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7" r:id="rId1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By</a:t>
            </a:r>
            <a:r>
              <a:rPr spc="60" dirty="0"/>
              <a:t> </a:t>
            </a:r>
            <a:r>
              <a:rPr dirty="0"/>
              <a:t>Shrutika</a:t>
            </a:r>
            <a:r>
              <a:rPr spc="60" dirty="0"/>
              <a:t> </a:t>
            </a:r>
            <a:r>
              <a:rPr spc="-10" dirty="0"/>
              <a:t>Patil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588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/>
              <a:t>‹#›</a:t>
            </a:fld>
            <a:r>
              <a:rPr spc="-80" dirty="0"/>
              <a:t> </a:t>
            </a:r>
            <a:r>
              <a:rPr spc="-10" dirty="0"/>
              <a:t>/</a:t>
            </a:r>
            <a:r>
              <a:rPr spc="-80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By</a:t>
            </a:r>
            <a:r>
              <a:rPr spc="60" dirty="0"/>
              <a:t> </a:t>
            </a:r>
            <a:r>
              <a:rPr dirty="0"/>
              <a:t>Shrutika</a:t>
            </a:r>
            <a:r>
              <a:rPr spc="60" dirty="0"/>
              <a:t> </a:t>
            </a:r>
            <a:r>
              <a:rPr spc="-10" dirty="0"/>
              <a:t>Patil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588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/>
              <a:t>‹#›</a:t>
            </a:fld>
            <a:r>
              <a:rPr spc="-80" dirty="0"/>
              <a:t> </a:t>
            </a:r>
            <a:r>
              <a:rPr spc="-10" dirty="0"/>
              <a:t>/</a:t>
            </a:r>
            <a:r>
              <a:rPr spc="-80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By</a:t>
            </a:r>
            <a:r>
              <a:rPr spc="60" dirty="0"/>
              <a:t> </a:t>
            </a:r>
            <a:r>
              <a:rPr dirty="0"/>
              <a:t>Shrutika</a:t>
            </a:r>
            <a:r>
              <a:rPr spc="60" dirty="0"/>
              <a:t> </a:t>
            </a:r>
            <a:r>
              <a:rPr spc="-10" dirty="0"/>
              <a:t>Patil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588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/>
              <a:t>‹#›</a:t>
            </a:fld>
            <a:r>
              <a:rPr spc="-80" dirty="0"/>
              <a:t> </a:t>
            </a:r>
            <a:r>
              <a:rPr spc="-10" dirty="0"/>
              <a:t>/</a:t>
            </a:r>
            <a:r>
              <a:rPr spc="-80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By</a:t>
            </a:r>
            <a:r>
              <a:rPr spc="60" dirty="0"/>
              <a:t> </a:t>
            </a:r>
            <a:r>
              <a:rPr dirty="0"/>
              <a:t>Shrutika</a:t>
            </a:r>
            <a:r>
              <a:rPr spc="60" dirty="0"/>
              <a:t> </a:t>
            </a:r>
            <a:r>
              <a:rPr spc="-10" dirty="0"/>
              <a:t>Patil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588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/>
              <a:t>‹#›</a:t>
            </a:fld>
            <a:r>
              <a:rPr spc="-80" dirty="0"/>
              <a:t> </a:t>
            </a:r>
            <a:r>
              <a:rPr spc="-10" dirty="0"/>
              <a:t>/</a:t>
            </a:r>
            <a:r>
              <a:rPr spc="-80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743" y="710145"/>
            <a:ext cx="5584825" cy="82550"/>
          </a:xfrm>
          <a:custGeom>
            <a:avLst/>
            <a:gdLst/>
            <a:ahLst/>
            <a:cxnLst/>
            <a:rect l="l" t="t" r="r" b="b"/>
            <a:pathLst>
              <a:path w="5584825" h="82550">
                <a:moveTo>
                  <a:pt x="553378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584580" y="82384"/>
                </a:lnTo>
                <a:lnTo>
                  <a:pt x="5584580" y="50800"/>
                </a:lnTo>
                <a:lnTo>
                  <a:pt x="5580572" y="31075"/>
                </a:lnTo>
                <a:lnTo>
                  <a:pt x="5569658" y="14922"/>
                </a:lnTo>
                <a:lnTo>
                  <a:pt x="5553505" y="4008"/>
                </a:lnTo>
                <a:lnTo>
                  <a:pt x="553378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38544" y="773399"/>
            <a:ext cx="5584825" cy="689610"/>
          </a:xfrm>
          <a:custGeom>
            <a:avLst/>
            <a:gdLst/>
            <a:ahLst/>
            <a:cxnLst/>
            <a:rect l="l" t="t" r="r" b="b"/>
            <a:pathLst>
              <a:path w="5584825" h="689610">
                <a:moveTo>
                  <a:pt x="5584580" y="0"/>
                </a:moveTo>
                <a:lnTo>
                  <a:pt x="0" y="0"/>
                </a:lnTo>
                <a:lnTo>
                  <a:pt x="0" y="689298"/>
                </a:lnTo>
                <a:lnTo>
                  <a:pt x="5584580" y="689298"/>
                </a:lnTo>
                <a:lnTo>
                  <a:pt x="5584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87743" y="754563"/>
            <a:ext cx="5584825" cy="657860"/>
          </a:xfrm>
          <a:custGeom>
            <a:avLst/>
            <a:gdLst/>
            <a:ahLst/>
            <a:cxnLst/>
            <a:rect l="l" t="t" r="r" b="b"/>
            <a:pathLst>
              <a:path w="5584825" h="657860">
                <a:moveTo>
                  <a:pt x="5584580" y="0"/>
                </a:moveTo>
                <a:lnTo>
                  <a:pt x="0" y="0"/>
                </a:lnTo>
                <a:lnTo>
                  <a:pt x="0" y="606533"/>
                </a:lnTo>
                <a:lnTo>
                  <a:pt x="4008" y="626258"/>
                </a:lnTo>
                <a:lnTo>
                  <a:pt x="14922" y="642411"/>
                </a:lnTo>
                <a:lnTo>
                  <a:pt x="31075" y="653325"/>
                </a:lnTo>
                <a:lnTo>
                  <a:pt x="50800" y="657334"/>
                </a:lnTo>
                <a:lnTo>
                  <a:pt x="5533780" y="657334"/>
                </a:lnTo>
                <a:lnTo>
                  <a:pt x="5553505" y="653325"/>
                </a:lnTo>
                <a:lnTo>
                  <a:pt x="5569658" y="642411"/>
                </a:lnTo>
                <a:lnTo>
                  <a:pt x="5580572" y="626258"/>
                </a:lnTo>
                <a:lnTo>
                  <a:pt x="5584580" y="606533"/>
                </a:lnTo>
                <a:lnTo>
                  <a:pt x="558458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By</a:t>
            </a:r>
            <a:r>
              <a:rPr spc="60" dirty="0"/>
              <a:t> </a:t>
            </a:r>
            <a:r>
              <a:rPr dirty="0"/>
              <a:t>Shrutika</a:t>
            </a:r>
            <a:r>
              <a:rPr spc="60" dirty="0"/>
              <a:t> </a:t>
            </a:r>
            <a:r>
              <a:rPr spc="-10" dirty="0"/>
              <a:t>Patil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588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/>
              <a:t>‹#›</a:t>
            </a:fld>
            <a:r>
              <a:rPr spc="-80" dirty="0"/>
              <a:t> </a:t>
            </a:r>
            <a:r>
              <a:rPr spc="-10" dirty="0"/>
              <a:t>/</a:t>
            </a:r>
            <a:r>
              <a:rPr spc="-80" dirty="0"/>
              <a:t> </a:t>
            </a:r>
            <a:r>
              <a:rPr spc="-25" dirty="0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316865"/>
          </a:xfrm>
          <a:custGeom>
            <a:avLst/>
            <a:gdLst/>
            <a:ahLst/>
            <a:cxnLst/>
            <a:rect l="l" t="t" r="r" b="b"/>
            <a:pathLst>
              <a:path w="5760085" h="316865">
                <a:moveTo>
                  <a:pt x="5759996" y="0"/>
                </a:moveTo>
                <a:lnTo>
                  <a:pt x="0" y="0"/>
                </a:lnTo>
                <a:lnTo>
                  <a:pt x="0" y="316763"/>
                </a:lnTo>
                <a:lnTo>
                  <a:pt x="5759996" y="316763"/>
                </a:lnTo>
                <a:lnTo>
                  <a:pt x="575999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43190"/>
            <a:ext cx="26022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9458" y="1414536"/>
            <a:ext cx="5386882" cy="699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57479" y="3105454"/>
            <a:ext cx="605155" cy="128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By</a:t>
            </a:r>
            <a:r>
              <a:rPr spc="60" dirty="0"/>
              <a:t> </a:t>
            </a:r>
            <a:r>
              <a:rPr dirty="0"/>
              <a:t>Shrutika</a:t>
            </a:r>
            <a:r>
              <a:rPr spc="60" dirty="0"/>
              <a:t> </a:t>
            </a:r>
            <a:r>
              <a:rPr spc="-10" dirty="0"/>
              <a:t>Patil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3/14/2026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584" y="3105454"/>
            <a:ext cx="252971" cy="128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5588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dirty="0"/>
              <a:t>‹#›</a:t>
            </a:fld>
            <a:r>
              <a:rPr spc="-80" dirty="0"/>
              <a:t> </a:t>
            </a:r>
            <a:r>
              <a:rPr spc="-10" dirty="0"/>
              <a:t>/</a:t>
            </a:r>
            <a:r>
              <a:rPr spc="-80" dirty="0"/>
              <a:t> </a:t>
            </a:r>
            <a:r>
              <a:rPr spc="-25" dirty="0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44" y="773399"/>
            <a:ext cx="5584825" cy="6896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05"/>
              </a:spcBef>
            </a:pPr>
            <a:r>
              <a:rPr sz="1400" spc="60" dirty="0">
                <a:latin typeface="Tahoma"/>
                <a:cs typeface="Tahoma"/>
              </a:rPr>
              <a:t>RevConnect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Project</a:t>
            </a:r>
            <a:endParaRPr sz="1400" dirty="0">
              <a:latin typeface="Tahoma"/>
              <a:cs typeface="Tahoma"/>
            </a:endParaRPr>
          </a:p>
          <a:p>
            <a:pPr marR="93980" algn="ctr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ahoma"/>
                <a:cs typeface="Tahoma"/>
              </a:rPr>
              <a:t>Full-Stack</a:t>
            </a:r>
            <a:r>
              <a:rPr sz="1100" spc="2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Professional</a:t>
            </a:r>
            <a:r>
              <a:rPr sz="1100" spc="2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Networking</a:t>
            </a:r>
            <a:r>
              <a:rPr sz="1100" spc="3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Platform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8400" y="1631072"/>
            <a:ext cx="1083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By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Shrutika</a:t>
            </a:r>
            <a:r>
              <a:rPr sz="1100" spc="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Patil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07753"/>
            <a:ext cx="5760185" cy="132715"/>
            <a:chOff x="0" y="3107753"/>
            <a:chExt cx="5760185" cy="132715"/>
          </a:xfrm>
        </p:grpSpPr>
        <p:sp>
          <p:nvSpPr>
            <p:cNvPr id="5" name="object 5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Table</a:t>
            </a:r>
            <a:r>
              <a:rPr spc="15" dirty="0"/>
              <a:t> </a:t>
            </a:r>
            <a:r>
              <a:rPr spc="70" dirty="0"/>
              <a:t>of</a:t>
            </a:r>
            <a:r>
              <a:rPr spc="15" dirty="0"/>
              <a:t> </a:t>
            </a:r>
            <a:r>
              <a:rPr spc="6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676628"/>
            <a:ext cx="2372995" cy="19157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+mj-lt"/>
              <a:buAutoNum type="arabicPeriod"/>
              <a:tabLst>
                <a:tab pos="174625" algn="l"/>
              </a:tabLst>
            </a:pPr>
            <a:r>
              <a:rPr sz="1100" spc="20" dirty="0">
                <a:latin typeface="Tahoma"/>
                <a:cs typeface="Tahoma"/>
              </a:rPr>
              <a:t>Introduction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&amp;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Objectives</a:t>
            </a:r>
            <a:endParaRPr lang="en-IN" sz="1100" spc="-10" dirty="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+mj-lt"/>
              <a:buAutoNum type="arabicPeriod"/>
              <a:tabLst>
                <a:tab pos="174625" algn="l"/>
              </a:tabLst>
            </a:pPr>
            <a:r>
              <a:rPr sz="1100" dirty="0">
                <a:latin typeface="Tahoma"/>
                <a:cs typeface="Tahoma"/>
              </a:rPr>
              <a:t>System </a:t>
            </a:r>
            <a:r>
              <a:rPr sz="1100" spc="-10" dirty="0">
                <a:latin typeface="Tahoma"/>
                <a:cs typeface="Tahoma"/>
              </a:rPr>
              <a:t>Architecture</a:t>
            </a:r>
            <a:endParaRPr sz="1100" dirty="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+mj-lt"/>
              <a:buAutoNum type="arabicPeriod"/>
              <a:tabLst>
                <a:tab pos="174625" algn="l"/>
              </a:tabLst>
            </a:pPr>
            <a:r>
              <a:rPr sz="1100" spc="40" dirty="0">
                <a:latin typeface="Tahoma"/>
                <a:cs typeface="Tahoma"/>
              </a:rPr>
              <a:t>Methodology</a:t>
            </a:r>
            <a:endParaRPr sz="1100" dirty="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+mj-lt"/>
              <a:buAutoNum type="arabicPeriod"/>
              <a:tabLst>
                <a:tab pos="174625" algn="l"/>
              </a:tabLst>
            </a:pPr>
            <a:r>
              <a:rPr sz="1100" spc="10" dirty="0">
                <a:latin typeface="Tahoma"/>
                <a:cs typeface="Tahoma"/>
              </a:rPr>
              <a:t>Database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Design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Overview</a:t>
            </a:r>
            <a:endParaRPr sz="1100" dirty="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+mj-lt"/>
              <a:buAutoNum type="arabicPeriod"/>
              <a:tabLst>
                <a:tab pos="174625" algn="l"/>
              </a:tabLst>
            </a:pPr>
            <a:r>
              <a:rPr sz="1100" dirty="0">
                <a:latin typeface="Tahoma"/>
                <a:cs typeface="Tahoma"/>
              </a:rPr>
              <a:t>Core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Modules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(Personal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Users)</a:t>
            </a:r>
            <a:endParaRPr sz="1100" dirty="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+mj-lt"/>
              <a:buAutoNum type="arabicPeriod"/>
              <a:tabLst>
                <a:tab pos="174625" algn="l"/>
              </a:tabLst>
            </a:pPr>
            <a:r>
              <a:rPr sz="1100" spc="10" dirty="0">
                <a:latin typeface="Tahoma"/>
                <a:cs typeface="Tahoma"/>
              </a:rPr>
              <a:t>Creator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&amp;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Business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Features</a:t>
            </a:r>
            <a:endParaRPr sz="1100" dirty="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+mj-lt"/>
              <a:buAutoNum type="arabicPeriod"/>
              <a:tabLst>
                <a:tab pos="174625" algn="l"/>
              </a:tabLst>
            </a:pPr>
            <a:r>
              <a:rPr sz="1100" spc="10" dirty="0">
                <a:latin typeface="Tahoma"/>
                <a:cs typeface="Tahoma"/>
              </a:rPr>
              <a:t>Findings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&amp;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Observations</a:t>
            </a:r>
            <a:endParaRPr sz="1100" dirty="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+mj-lt"/>
              <a:buAutoNum type="arabicPeriod"/>
              <a:tabLst>
                <a:tab pos="174625" algn="l"/>
              </a:tabLst>
            </a:pPr>
            <a:r>
              <a:rPr sz="1100" spc="20" dirty="0">
                <a:latin typeface="Tahoma"/>
                <a:cs typeface="Tahoma"/>
              </a:rPr>
              <a:t>Challenges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&amp;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Key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Learnings</a:t>
            </a:r>
            <a:endParaRPr sz="1100" dirty="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+mj-lt"/>
              <a:buAutoNum type="arabicPeriod"/>
              <a:tabLst>
                <a:tab pos="174625" algn="l"/>
              </a:tabLst>
            </a:pPr>
            <a:r>
              <a:rPr sz="1100" spc="-10" dirty="0">
                <a:latin typeface="Tahoma"/>
                <a:cs typeface="Tahoma"/>
              </a:rPr>
              <a:t>Conclusion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5" name="object 5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r>
              <a:rPr sz="600" spc="40" dirty="0">
                <a:latin typeface="Tahoma"/>
                <a:cs typeface="Tahoma"/>
              </a:rPr>
              <a:t> 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Introduction</a:t>
            </a:r>
            <a:r>
              <a:rPr spc="-50" dirty="0"/>
              <a:t> </a:t>
            </a:r>
            <a:r>
              <a:rPr spc="110" dirty="0"/>
              <a:t>&amp;</a:t>
            </a:r>
            <a:r>
              <a:rPr spc="-50" dirty="0"/>
              <a:t> </a:t>
            </a:r>
            <a:r>
              <a:rPr spc="45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852308"/>
            <a:ext cx="5314950" cy="14541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>
              <a:lnSpc>
                <a:spcPct val="102600"/>
              </a:lnSpc>
              <a:spcBef>
                <a:spcPts val="55"/>
              </a:spcBef>
            </a:pPr>
            <a:r>
              <a:rPr sz="1100" spc="-95" dirty="0">
                <a:latin typeface="Arial Black"/>
                <a:cs typeface="Arial Black"/>
              </a:rPr>
              <a:t>RevConnect</a:t>
            </a:r>
            <a:r>
              <a:rPr sz="1100" spc="100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digital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ecosystem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designed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build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connections,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share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content, </a:t>
            </a:r>
            <a:r>
              <a:rPr sz="1100" spc="20" dirty="0">
                <a:latin typeface="Tahoma"/>
                <a:cs typeface="Tahoma"/>
              </a:rPr>
              <a:t>and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support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professional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growth.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1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100" spc="-135" dirty="0">
                <a:latin typeface="Arial Black"/>
                <a:cs typeface="Arial Black"/>
              </a:rPr>
              <a:t>Key</a:t>
            </a:r>
            <a:r>
              <a:rPr sz="1100" spc="-6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Objectives</a:t>
            </a:r>
            <a:endParaRPr sz="1100" dirty="0">
              <a:latin typeface="Arial Black"/>
              <a:cs typeface="Arial Black"/>
            </a:endParaRPr>
          </a:p>
          <a:p>
            <a:pPr marL="325755" indent="-13652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Arial"/>
              <a:buChar char="•"/>
              <a:tabLst>
                <a:tab pos="325755" algn="l"/>
              </a:tabLst>
            </a:pPr>
            <a:r>
              <a:rPr sz="1100" dirty="0">
                <a:latin typeface="Tahoma"/>
                <a:cs typeface="Tahoma"/>
              </a:rPr>
              <a:t>Develop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scalable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full-stack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web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application.</a:t>
            </a:r>
            <a:endParaRPr sz="1100" dirty="0">
              <a:latin typeface="Tahoma"/>
              <a:cs typeface="Tahoma"/>
            </a:endParaRPr>
          </a:p>
          <a:p>
            <a:pPr marL="325755" indent="-13652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Arial"/>
              <a:buChar char="•"/>
              <a:tabLst>
                <a:tab pos="325755" algn="l"/>
              </a:tabLst>
            </a:pPr>
            <a:r>
              <a:rPr sz="1100" dirty="0">
                <a:latin typeface="Tahoma"/>
                <a:cs typeface="Tahoma"/>
              </a:rPr>
              <a:t>Implement</a:t>
            </a:r>
            <a:r>
              <a:rPr sz="1100" spc="1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secure</a:t>
            </a:r>
            <a:r>
              <a:rPr sz="1100" spc="1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JWT</a:t>
            </a:r>
            <a:r>
              <a:rPr sz="1100" spc="1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authentication.</a:t>
            </a:r>
            <a:endParaRPr sz="1100" dirty="0">
              <a:latin typeface="Tahoma"/>
              <a:cs typeface="Tahoma"/>
            </a:endParaRPr>
          </a:p>
          <a:p>
            <a:pPr marL="325755" indent="-13652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Arial"/>
              <a:buChar char="•"/>
              <a:tabLst>
                <a:tab pos="325755" algn="l"/>
              </a:tabLst>
            </a:pPr>
            <a:r>
              <a:rPr sz="1100" spc="20" dirty="0">
                <a:latin typeface="Tahoma"/>
                <a:cs typeface="Tahoma"/>
              </a:rPr>
              <a:t>Design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a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normalized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relational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database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architecture.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5" name="object 5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r>
              <a:rPr sz="600" spc="40" dirty="0">
                <a:latin typeface="Tahoma"/>
                <a:cs typeface="Tahoma"/>
              </a:rPr>
              <a:t> 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System</a:t>
            </a:r>
            <a:r>
              <a:rPr spc="-40" dirty="0"/>
              <a:t> </a:t>
            </a:r>
            <a:r>
              <a:rPr spc="5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890268"/>
            <a:ext cx="3842385" cy="1416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4625" indent="-13652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Arial"/>
              <a:buChar char="•"/>
              <a:tabLst>
                <a:tab pos="174625" algn="l"/>
              </a:tabLst>
            </a:pPr>
            <a:r>
              <a:rPr sz="1100" spc="-65" dirty="0">
                <a:latin typeface="Arial Black"/>
                <a:cs typeface="Arial Black"/>
              </a:rPr>
              <a:t>Presentation</a:t>
            </a:r>
            <a:r>
              <a:rPr sz="1100" spc="-3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Layer</a:t>
            </a:r>
            <a:endParaRPr sz="1100" dirty="0">
              <a:latin typeface="Arial Black"/>
              <a:cs typeface="Arial Black"/>
            </a:endParaRPr>
          </a:p>
          <a:p>
            <a:pPr marL="1765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Angular</a:t>
            </a:r>
            <a:r>
              <a:rPr sz="1100" spc="1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(Component-based</a:t>
            </a:r>
            <a:r>
              <a:rPr sz="1100" spc="19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UI),</a:t>
            </a:r>
            <a:r>
              <a:rPr sz="1100" spc="1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TypeScript,</a:t>
            </a:r>
            <a:r>
              <a:rPr sz="1100" spc="1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HTML/CSS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 dirty="0">
              <a:latin typeface="Tahoma"/>
              <a:cs typeface="Tahoma"/>
            </a:endParaRPr>
          </a:p>
          <a:p>
            <a:pPr marL="1746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74625" algn="l"/>
              </a:tabLst>
            </a:pPr>
            <a:r>
              <a:rPr sz="1100" spc="-70" dirty="0">
                <a:latin typeface="Arial Black"/>
                <a:cs typeface="Arial Black"/>
              </a:rPr>
              <a:t>Application</a:t>
            </a:r>
            <a:r>
              <a:rPr sz="110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Layer</a:t>
            </a:r>
            <a:endParaRPr sz="1100" dirty="0">
              <a:latin typeface="Arial Black"/>
              <a:cs typeface="Arial Black"/>
            </a:endParaRPr>
          </a:p>
          <a:p>
            <a:pPr marL="1765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Spring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Boot,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REST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APIs,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Spring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Security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(</a:t>
            </a:r>
            <a:r>
              <a:rPr sz="1100" spc="-204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JWT)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 dirty="0">
              <a:latin typeface="Tahoma"/>
              <a:cs typeface="Tahoma"/>
            </a:endParaRPr>
          </a:p>
          <a:p>
            <a:pPr marL="1746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74625" algn="l"/>
              </a:tabLst>
            </a:pPr>
            <a:r>
              <a:rPr sz="1100" spc="-60" dirty="0">
                <a:latin typeface="Arial Black"/>
                <a:cs typeface="Arial Black"/>
              </a:rPr>
              <a:t>Data</a:t>
            </a:r>
            <a:r>
              <a:rPr sz="1100" spc="-8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Layer</a:t>
            </a:r>
            <a:endParaRPr sz="1100" dirty="0">
              <a:latin typeface="Arial Black"/>
              <a:cs typeface="Arial Black"/>
            </a:endParaRPr>
          </a:p>
          <a:p>
            <a:pPr marL="1765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MySQL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Relational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Database,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Spring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JPA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/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Hibernate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5" name="object 5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r>
              <a:rPr sz="600" spc="40" dirty="0">
                <a:latin typeface="Tahoma"/>
                <a:cs typeface="Tahoma"/>
              </a:rPr>
              <a:t> 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0" dirty="0"/>
              <a:t>Methodology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25" y="726674"/>
            <a:ext cx="137750" cy="1377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7693" y="727715"/>
            <a:ext cx="69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932" y="692567"/>
            <a:ext cx="188722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Arial Black"/>
                <a:cs typeface="Arial Black"/>
              </a:rPr>
              <a:t>Requirement</a:t>
            </a:r>
            <a:r>
              <a:rPr sz="1100" spc="-65" dirty="0">
                <a:latin typeface="Arial Black"/>
                <a:cs typeface="Arial Black"/>
              </a:rPr>
              <a:t> </a:t>
            </a:r>
            <a:r>
              <a:rPr sz="1100" spc="-170" dirty="0">
                <a:latin typeface="Arial Black"/>
                <a:cs typeface="Arial Black"/>
              </a:rPr>
              <a:t>&amp;</a:t>
            </a:r>
            <a:r>
              <a:rPr sz="1100" spc="-60" dirty="0">
                <a:latin typeface="Arial Black"/>
                <a:cs typeface="Arial Black"/>
              </a:rPr>
              <a:t> </a:t>
            </a:r>
            <a:r>
              <a:rPr sz="1100" spc="-90" dirty="0">
                <a:latin typeface="Arial Black"/>
                <a:cs typeface="Arial Black"/>
              </a:rPr>
              <a:t>DB</a:t>
            </a:r>
            <a:r>
              <a:rPr sz="1100" spc="-6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Design</a:t>
            </a:r>
            <a:endParaRPr sz="1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30" dirty="0">
                <a:latin typeface="Tahoma"/>
                <a:cs typeface="Tahoma"/>
              </a:rPr>
              <a:t>Normalized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schema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creation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25" y="1252784"/>
            <a:ext cx="137750" cy="1377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7693" y="1254193"/>
            <a:ext cx="69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218678"/>
            <a:ext cx="180975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5" dirty="0">
                <a:latin typeface="Arial Black"/>
                <a:cs typeface="Arial Black"/>
              </a:rPr>
              <a:t>Backend</a:t>
            </a:r>
            <a:r>
              <a:rPr sz="1100" spc="-55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Arial Black"/>
                <a:cs typeface="Arial Black"/>
              </a:rPr>
              <a:t>Build</a:t>
            </a:r>
            <a:endParaRPr sz="1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Spring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Boot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APIs</a:t>
            </a:r>
            <a:r>
              <a:rPr sz="1100" spc="55" dirty="0">
                <a:latin typeface="Tahoma"/>
                <a:cs typeface="Tahoma"/>
              </a:rPr>
              <a:t> &amp;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Security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3225" y="1778882"/>
            <a:ext cx="137750" cy="1377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37693" y="1779922"/>
            <a:ext cx="69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1744788"/>
            <a:ext cx="208407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Arial Black"/>
                <a:cs typeface="Arial Black"/>
              </a:rPr>
              <a:t>Frontend</a:t>
            </a:r>
            <a:r>
              <a:rPr sz="1100" spc="-20" dirty="0">
                <a:latin typeface="Arial Black"/>
                <a:cs typeface="Arial Black"/>
              </a:rPr>
              <a:t> </a:t>
            </a:r>
            <a:r>
              <a:rPr sz="1100" spc="-25" dirty="0">
                <a:latin typeface="Arial Black"/>
                <a:cs typeface="Arial Black"/>
              </a:rPr>
              <a:t>UI</a:t>
            </a:r>
            <a:endParaRPr sz="1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20" dirty="0">
                <a:latin typeface="Tahoma"/>
                <a:cs typeface="Tahoma"/>
              </a:rPr>
              <a:t>Angular</a:t>
            </a:r>
            <a:r>
              <a:rPr sz="1100" spc="155" dirty="0">
                <a:latin typeface="Tahoma"/>
                <a:cs typeface="Tahoma"/>
              </a:rPr>
              <a:t> </a:t>
            </a:r>
            <a:r>
              <a:rPr sz="1100" spc="20" dirty="0">
                <a:latin typeface="Tahoma"/>
                <a:cs typeface="Tahoma"/>
              </a:rPr>
              <a:t>component</a:t>
            </a:r>
            <a:r>
              <a:rPr sz="1100" spc="1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integration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693" y="2306172"/>
            <a:ext cx="69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 dirty="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16" name="object 16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r>
              <a:rPr sz="600" spc="40" dirty="0">
                <a:latin typeface="Tahoma"/>
                <a:cs typeface="Tahoma"/>
              </a:rPr>
              <a:t> 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Database</a:t>
            </a:r>
            <a:r>
              <a:rPr spc="-55" dirty="0"/>
              <a:t> </a:t>
            </a:r>
            <a:r>
              <a:rPr spc="75" dirty="0"/>
              <a:t>Design</a:t>
            </a:r>
            <a:r>
              <a:rPr spc="-50" dirty="0"/>
              <a:t> </a:t>
            </a:r>
            <a:r>
              <a:rPr spc="5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665936"/>
            <a:ext cx="5269230" cy="20085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3990" marR="30480" indent="-13652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Arial"/>
              <a:buChar char="•"/>
              <a:tabLst>
                <a:tab pos="176530" algn="l"/>
              </a:tabLst>
            </a:pPr>
            <a:r>
              <a:rPr sz="1100" spc="-114" dirty="0">
                <a:latin typeface="Arial Black"/>
                <a:cs typeface="Arial Black"/>
              </a:rPr>
              <a:t>18+</a:t>
            </a:r>
            <a:r>
              <a:rPr sz="1100" spc="110" dirty="0">
                <a:latin typeface="Arial Black"/>
                <a:cs typeface="Arial Black"/>
              </a:rPr>
              <a:t> </a:t>
            </a:r>
            <a:r>
              <a:rPr sz="1100" spc="-70" dirty="0">
                <a:latin typeface="Arial Black"/>
                <a:cs typeface="Arial Black"/>
              </a:rPr>
              <a:t>Relational</a:t>
            </a:r>
            <a:r>
              <a:rPr sz="1100" spc="110" dirty="0">
                <a:latin typeface="Arial Black"/>
                <a:cs typeface="Arial Black"/>
              </a:rPr>
              <a:t> </a:t>
            </a:r>
            <a:r>
              <a:rPr sz="1100" spc="-105" dirty="0">
                <a:latin typeface="Arial Black"/>
                <a:cs typeface="Arial Black"/>
              </a:rPr>
              <a:t>Tables:</a:t>
            </a:r>
            <a:r>
              <a:rPr sz="1100" spc="275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Highly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normalized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schema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designed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for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efficiency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	</a:t>
            </a:r>
            <a:r>
              <a:rPr sz="1100" spc="-10" dirty="0">
                <a:latin typeface="Tahoma"/>
                <a:cs typeface="Tahoma"/>
              </a:rPr>
              <a:t>scalability.</a:t>
            </a:r>
            <a:endParaRPr sz="1100" dirty="0">
              <a:latin typeface="Tahoma"/>
              <a:cs typeface="Tahoma"/>
            </a:endParaRPr>
          </a:p>
          <a:p>
            <a:pPr marL="174625" indent="-136525">
              <a:lnSpc>
                <a:spcPct val="100000"/>
              </a:lnSpc>
              <a:spcBef>
                <a:spcPts val="900"/>
              </a:spcBef>
              <a:buClr>
                <a:srgbClr val="3333B2"/>
              </a:buClr>
              <a:buFont typeface="Arial"/>
              <a:buChar char="•"/>
              <a:tabLst>
                <a:tab pos="174625" algn="l"/>
              </a:tabLst>
            </a:pPr>
            <a:r>
              <a:rPr sz="1100" spc="-95" dirty="0">
                <a:latin typeface="Arial Black"/>
                <a:cs typeface="Arial Black"/>
              </a:rPr>
              <a:t>Core</a:t>
            </a:r>
            <a:r>
              <a:rPr sz="1100" spc="60" dirty="0">
                <a:latin typeface="Arial Black"/>
                <a:cs typeface="Arial Black"/>
              </a:rPr>
              <a:t> </a:t>
            </a:r>
            <a:r>
              <a:rPr sz="1100" spc="-65" dirty="0">
                <a:latin typeface="Arial Black"/>
                <a:cs typeface="Arial Black"/>
              </a:rPr>
              <a:t>Entities:</a:t>
            </a:r>
            <a:r>
              <a:rPr sz="1100" spc="210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Users,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Profiles,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Posts,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Comments,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Likes.</a:t>
            </a:r>
            <a:endParaRPr sz="1100" dirty="0">
              <a:latin typeface="Tahoma"/>
              <a:cs typeface="Tahoma"/>
            </a:endParaRPr>
          </a:p>
          <a:p>
            <a:pPr marL="173990" marR="599440" indent="-136525">
              <a:lnSpc>
                <a:spcPct val="102600"/>
              </a:lnSpc>
              <a:spcBef>
                <a:spcPts val="865"/>
              </a:spcBef>
              <a:buClr>
                <a:srgbClr val="3333B2"/>
              </a:buClr>
              <a:buFont typeface="Arial"/>
              <a:buChar char="•"/>
              <a:tabLst>
                <a:tab pos="176530" algn="l"/>
              </a:tabLst>
            </a:pPr>
            <a:r>
              <a:rPr sz="1100" spc="-55" dirty="0">
                <a:latin typeface="Arial Black"/>
                <a:cs typeface="Arial Black"/>
              </a:rPr>
              <a:t>Networking</a:t>
            </a:r>
            <a:r>
              <a:rPr sz="1100" spc="70" dirty="0">
                <a:latin typeface="Arial Black"/>
                <a:cs typeface="Arial Black"/>
              </a:rPr>
              <a:t> </a:t>
            </a:r>
            <a:r>
              <a:rPr sz="1100" spc="-85" dirty="0">
                <a:latin typeface="Arial Black"/>
                <a:cs typeface="Arial Black"/>
              </a:rPr>
              <a:t>Logic:</a:t>
            </a:r>
            <a:r>
              <a:rPr sz="1100" spc="225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Connections,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Follows,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Reposts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tables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35" dirty="0">
                <a:latin typeface="Tahoma"/>
                <a:cs typeface="Tahoma"/>
              </a:rPr>
              <a:t>map 	</a:t>
            </a:r>
            <a:r>
              <a:rPr sz="1100" spc="-10" dirty="0">
                <a:latin typeface="Tahoma"/>
                <a:cs typeface="Tahoma"/>
              </a:rPr>
              <a:t>interactions.</a:t>
            </a:r>
            <a:endParaRPr sz="1100" dirty="0">
              <a:latin typeface="Tahoma"/>
              <a:cs typeface="Tahoma"/>
            </a:endParaRPr>
          </a:p>
          <a:p>
            <a:pPr marL="173990" marR="343535" indent="-136525">
              <a:lnSpc>
                <a:spcPct val="102600"/>
              </a:lnSpc>
              <a:spcBef>
                <a:spcPts val="869"/>
              </a:spcBef>
              <a:buClr>
                <a:srgbClr val="3333B2"/>
              </a:buClr>
              <a:buFont typeface="Arial"/>
              <a:buChar char="•"/>
              <a:tabLst>
                <a:tab pos="176530" algn="l"/>
              </a:tabLst>
            </a:pPr>
            <a:r>
              <a:rPr sz="1100" spc="-95" dirty="0">
                <a:latin typeface="Arial Black"/>
                <a:cs typeface="Arial Black"/>
              </a:rPr>
              <a:t>Business</a:t>
            </a:r>
            <a:r>
              <a:rPr sz="1100" spc="114" dirty="0">
                <a:latin typeface="Arial Black"/>
                <a:cs typeface="Arial Black"/>
              </a:rPr>
              <a:t> </a:t>
            </a:r>
            <a:r>
              <a:rPr sz="1100" spc="-85" dirty="0">
                <a:latin typeface="Arial Black"/>
                <a:cs typeface="Arial Black"/>
              </a:rPr>
              <a:t>Logic:</a:t>
            </a:r>
            <a:r>
              <a:rPr sz="1100" spc="280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Dedicated</a:t>
            </a:r>
            <a:r>
              <a:rPr sz="1100" spc="1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tables</a:t>
            </a:r>
            <a:r>
              <a:rPr sz="1100" spc="1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for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Business</a:t>
            </a:r>
            <a:r>
              <a:rPr sz="1100" spc="1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Profiles,</a:t>
            </a:r>
            <a:r>
              <a:rPr sz="1100" spc="1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Operating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Hours, 	</a:t>
            </a:r>
            <a:r>
              <a:rPr sz="1100" dirty="0">
                <a:latin typeface="Tahoma"/>
                <a:cs typeface="Tahoma"/>
              </a:rPr>
              <a:t>Products,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1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External</a:t>
            </a:r>
            <a:r>
              <a:rPr sz="1100" spc="1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Links.</a:t>
            </a:r>
            <a:endParaRPr sz="1100" dirty="0">
              <a:latin typeface="Tahoma"/>
              <a:cs typeface="Tahoma"/>
            </a:endParaRPr>
          </a:p>
          <a:p>
            <a:pPr marL="173990" marR="217170" indent="-136525">
              <a:lnSpc>
                <a:spcPct val="102600"/>
              </a:lnSpc>
              <a:spcBef>
                <a:spcPts val="865"/>
              </a:spcBef>
              <a:buClr>
                <a:srgbClr val="3333B2"/>
              </a:buClr>
              <a:buFont typeface="Arial"/>
              <a:buChar char="•"/>
              <a:tabLst>
                <a:tab pos="176530" algn="l"/>
              </a:tabLst>
            </a:pPr>
            <a:r>
              <a:rPr sz="1100" spc="-70" dirty="0">
                <a:latin typeface="Arial Black"/>
                <a:cs typeface="Arial Black"/>
              </a:rPr>
              <a:t>Relationships:</a:t>
            </a:r>
            <a:r>
              <a:rPr sz="1100" spc="360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Robust</a:t>
            </a:r>
            <a:r>
              <a:rPr sz="1100" spc="20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implementation</a:t>
            </a:r>
            <a:r>
              <a:rPr sz="1100" spc="20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20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one-to-many</a:t>
            </a:r>
            <a:r>
              <a:rPr sz="1100" spc="2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20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many-to-</a:t>
            </a:r>
            <a:r>
              <a:rPr sz="1100" spc="-20" dirty="0">
                <a:latin typeface="Tahoma"/>
                <a:cs typeface="Tahoma"/>
              </a:rPr>
              <a:t>many 	</a:t>
            </a:r>
            <a:r>
              <a:rPr sz="1100" spc="-10" dirty="0">
                <a:latin typeface="Tahoma"/>
                <a:cs typeface="Tahoma"/>
              </a:rPr>
              <a:t>associations.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5" name="object 5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r>
              <a:rPr sz="600" spc="40" dirty="0">
                <a:latin typeface="Tahoma"/>
                <a:cs typeface="Tahoma"/>
              </a:rPr>
              <a:t> 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Core</a:t>
            </a:r>
            <a:r>
              <a:rPr spc="-50" dirty="0"/>
              <a:t> </a:t>
            </a:r>
            <a:r>
              <a:rPr spc="75" dirty="0"/>
              <a:t>Modules: Personal</a:t>
            </a:r>
            <a:r>
              <a:rPr spc="-50" dirty="0"/>
              <a:t> </a:t>
            </a:r>
            <a:r>
              <a:rPr spc="70" dirty="0"/>
              <a:t>Users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288" y="679829"/>
            <a:ext cx="3217545" cy="19424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325" indent="-13652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50" dirty="0">
                <a:latin typeface="Arial Black"/>
                <a:cs typeface="Arial Black"/>
              </a:rPr>
              <a:t>Auth</a:t>
            </a:r>
            <a:r>
              <a:rPr sz="1100" spc="-70" dirty="0">
                <a:latin typeface="Arial Black"/>
                <a:cs typeface="Arial Black"/>
              </a:rPr>
              <a:t> </a:t>
            </a:r>
            <a:r>
              <a:rPr sz="1100" spc="-170" dirty="0">
                <a:latin typeface="Arial Black"/>
                <a:cs typeface="Arial Black"/>
              </a:rPr>
              <a:t>&amp;</a:t>
            </a:r>
            <a:r>
              <a:rPr sz="1100" spc="-6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Profile</a:t>
            </a:r>
            <a:endParaRPr sz="1100" dirty="0">
              <a:latin typeface="Arial Black"/>
              <a:cs typeface="Arial Black"/>
            </a:endParaRPr>
          </a:p>
          <a:p>
            <a:pPr marL="189230">
              <a:lnSpc>
                <a:spcPct val="100000"/>
              </a:lnSpc>
              <a:spcBef>
                <a:spcPts val="35"/>
              </a:spcBef>
            </a:pPr>
            <a:r>
              <a:rPr sz="1100" spc="10" dirty="0">
                <a:latin typeface="Tahoma"/>
                <a:cs typeface="Tahoma"/>
              </a:rPr>
              <a:t>Registration,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secure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login,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and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profile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editing.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 dirty="0">
              <a:latin typeface="Tahoma"/>
              <a:cs typeface="Tahoma"/>
            </a:endParaRPr>
          </a:p>
          <a:p>
            <a:pPr marL="1873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85" dirty="0">
                <a:latin typeface="Arial Black"/>
                <a:cs typeface="Arial Black"/>
              </a:rPr>
              <a:t>Post</a:t>
            </a:r>
            <a:r>
              <a:rPr sz="1100" spc="-70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Management</a:t>
            </a:r>
            <a:endParaRPr sz="1100" dirty="0">
              <a:latin typeface="Arial Black"/>
              <a:cs typeface="Arial Black"/>
            </a:endParaRPr>
          </a:p>
          <a:p>
            <a:pPr marL="18923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Create,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edit,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delete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posts,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use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hashtags.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 dirty="0">
              <a:latin typeface="Tahoma"/>
              <a:cs typeface="Tahoma"/>
            </a:endParaRPr>
          </a:p>
          <a:p>
            <a:pPr marL="1873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105" dirty="0">
                <a:latin typeface="Arial Black"/>
                <a:cs typeface="Arial Black"/>
              </a:rPr>
              <a:t>Social</a:t>
            </a:r>
            <a:r>
              <a:rPr sz="1100" spc="-55" dirty="0">
                <a:latin typeface="Arial Black"/>
                <a:cs typeface="Arial Black"/>
              </a:rPr>
              <a:t> </a:t>
            </a:r>
            <a:r>
              <a:rPr sz="1100" spc="-10" dirty="0">
                <a:latin typeface="Arial Black"/>
                <a:cs typeface="Arial Black"/>
              </a:rPr>
              <a:t>Interaction</a:t>
            </a:r>
            <a:endParaRPr sz="1100" dirty="0">
              <a:latin typeface="Arial Black"/>
              <a:cs typeface="Arial Black"/>
            </a:endParaRPr>
          </a:p>
          <a:p>
            <a:pPr marL="189230">
              <a:lnSpc>
                <a:spcPct val="100000"/>
              </a:lnSpc>
              <a:spcBef>
                <a:spcPts val="35"/>
              </a:spcBef>
            </a:pPr>
            <a:r>
              <a:rPr sz="1100" spc="10" dirty="0">
                <a:latin typeface="Tahoma"/>
                <a:cs typeface="Tahoma"/>
              </a:rPr>
              <a:t>Like,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comment,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share,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and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follow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accounts.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 dirty="0">
              <a:latin typeface="Tahoma"/>
              <a:cs typeface="Tahoma"/>
            </a:endParaRPr>
          </a:p>
          <a:p>
            <a:pPr marL="1873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10" dirty="0">
                <a:latin typeface="Arial Black"/>
                <a:cs typeface="Arial Black"/>
              </a:rPr>
              <a:t>Notifications</a:t>
            </a:r>
            <a:endParaRPr sz="1100" dirty="0">
              <a:latin typeface="Arial Black"/>
              <a:cs typeface="Arial Black"/>
            </a:endParaRPr>
          </a:p>
          <a:p>
            <a:pPr marL="189230">
              <a:lnSpc>
                <a:spcPct val="100000"/>
              </a:lnSpc>
              <a:spcBef>
                <a:spcPts val="35"/>
              </a:spcBef>
            </a:pPr>
            <a:r>
              <a:rPr sz="1100" spc="10" dirty="0">
                <a:latin typeface="Tahoma"/>
                <a:cs typeface="Tahoma"/>
              </a:rPr>
              <a:t>In-</a:t>
            </a:r>
            <a:r>
              <a:rPr sz="1100" spc="20" dirty="0">
                <a:latin typeface="Tahoma"/>
                <a:cs typeface="Tahoma"/>
              </a:rPr>
              <a:t>app alerts for interactions and </a:t>
            </a:r>
            <a:r>
              <a:rPr sz="1100" spc="-10" dirty="0">
                <a:latin typeface="Tahoma"/>
                <a:cs typeface="Tahoma"/>
              </a:rPr>
              <a:t>connections.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5" name="object 5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r>
              <a:rPr sz="600" spc="40" dirty="0">
                <a:latin typeface="Tahoma"/>
                <a:cs typeface="Tahoma"/>
              </a:rPr>
              <a:t> 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Creator</a:t>
            </a:r>
            <a:r>
              <a:rPr spc="-50" dirty="0"/>
              <a:t> </a:t>
            </a:r>
            <a:r>
              <a:rPr spc="110" dirty="0"/>
              <a:t>&amp;</a:t>
            </a:r>
            <a:r>
              <a:rPr spc="-50" dirty="0"/>
              <a:t> </a:t>
            </a:r>
            <a:r>
              <a:rPr spc="70" dirty="0"/>
              <a:t>Business</a:t>
            </a:r>
            <a:r>
              <a:rPr spc="-45" dirty="0"/>
              <a:t> </a:t>
            </a:r>
            <a:r>
              <a:rPr spc="50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288" y="955153"/>
            <a:ext cx="4350385" cy="1254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325" indent="-13652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90" dirty="0">
                <a:latin typeface="Arial Black"/>
                <a:cs typeface="Arial Black"/>
              </a:rPr>
              <a:t>Enhanced</a:t>
            </a:r>
            <a:r>
              <a:rPr sz="1100" spc="50" dirty="0">
                <a:latin typeface="Arial Black"/>
                <a:cs typeface="Arial Black"/>
              </a:rPr>
              <a:t> </a:t>
            </a:r>
            <a:r>
              <a:rPr sz="1100" spc="-65" dirty="0">
                <a:latin typeface="Arial Black"/>
                <a:cs typeface="Arial Black"/>
              </a:rPr>
              <a:t>Profiles:</a:t>
            </a:r>
            <a:r>
              <a:rPr sz="1100" spc="200" dirty="0">
                <a:latin typeface="Arial Black"/>
                <a:cs typeface="Arial Black"/>
              </a:rPr>
              <a:t> </a:t>
            </a:r>
            <a:r>
              <a:rPr sz="1100" spc="50" dirty="0">
                <a:latin typeface="Tahoma"/>
                <a:cs typeface="Tahoma"/>
              </a:rPr>
              <a:t>Add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business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hours,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location,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links.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3333B2"/>
              </a:buClr>
              <a:buFont typeface="Arial"/>
              <a:buChar char="•"/>
            </a:pPr>
            <a:endParaRPr sz="1100" dirty="0">
              <a:latin typeface="Tahoma"/>
              <a:cs typeface="Tahoma"/>
            </a:endParaRPr>
          </a:p>
          <a:p>
            <a:pPr marL="1873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60" dirty="0">
                <a:latin typeface="Arial Black"/>
                <a:cs typeface="Arial Black"/>
              </a:rPr>
              <a:t>Content</a:t>
            </a:r>
            <a:r>
              <a:rPr sz="1100" spc="70" dirty="0">
                <a:latin typeface="Arial Black"/>
                <a:cs typeface="Arial Black"/>
              </a:rPr>
              <a:t> </a:t>
            </a:r>
            <a:r>
              <a:rPr sz="1100" spc="-65" dirty="0">
                <a:latin typeface="Arial Black"/>
                <a:cs typeface="Arial Black"/>
              </a:rPr>
              <a:t>Strategy:</a:t>
            </a:r>
            <a:r>
              <a:rPr sz="1100" spc="225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Create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promotional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posts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tag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products.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3333B2"/>
              </a:buClr>
              <a:buFont typeface="Arial"/>
              <a:buChar char="•"/>
            </a:pPr>
            <a:endParaRPr sz="1100" dirty="0">
              <a:latin typeface="Tahoma"/>
              <a:cs typeface="Tahoma"/>
            </a:endParaRPr>
          </a:p>
          <a:p>
            <a:pPr marL="1873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90" dirty="0">
                <a:latin typeface="Arial Black"/>
                <a:cs typeface="Arial Black"/>
              </a:rPr>
              <a:t>Advanced</a:t>
            </a:r>
            <a:r>
              <a:rPr sz="1100" spc="85" dirty="0">
                <a:latin typeface="Arial Black"/>
                <a:cs typeface="Arial Black"/>
              </a:rPr>
              <a:t> </a:t>
            </a:r>
            <a:r>
              <a:rPr sz="1100" spc="-105" dirty="0">
                <a:latin typeface="Arial Black"/>
                <a:cs typeface="Arial Black"/>
              </a:rPr>
              <a:t>Tools:</a:t>
            </a:r>
            <a:r>
              <a:rPr sz="1100" spc="235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Schedule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posts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pin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important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updates.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3333B2"/>
              </a:buClr>
              <a:buFont typeface="Arial"/>
              <a:buChar char="•"/>
            </a:pPr>
            <a:endParaRPr sz="1100" dirty="0">
              <a:latin typeface="Tahoma"/>
              <a:cs typeface="Tahoma"/>
            </a:endParaRPr>
          </a:p>
          <a:p>
            <a:pPr marL="1873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70" dirty="0">
                <a:latin typeface="Arial Black"/>
                <a:cs typeface="Arial Black"/>
              </a:rPr>
              <a:t>Analytics:</a:t>
            </a:r>
            <a:r>
              <a:rPr sz="1100" spc="185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View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likes,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comments,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shares,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reach.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5" name="object 5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70" dirty="0"/>
              <a:t>Findings</a:t>
            </a:r>
            <a:r>
              <a:rPr spc="-65" dirty="0"/>
              <a:t> </a:t>
            </a:r>
            <a:r>
              <a:rPr spc="110" dirty="0"/>
              <a:t>&amp;</a:t>
            </a:r>
            <a:r>
              <a:rPr spc="-65" dirty="0"/>
              <a:t> </a:t>
            </a:r>
            <a:r>
              <a:rPr spc="60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6288" y="955153"/>
            <a:ext cx="4451350" cy="1254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325" indent="-13652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70" dirty="0">
                <a:latin typeface="Arial Black"/>
                <a:cs typeface="Arial Black"/>
              </a:rPr>
              <a:t>Security:</a:t>
            </a:r>
            <a:r>
              <a:rPr sz="1100" spc="245" dirty="0">
                <a:latin typeface="Arial Black"/>
                <a:cs typeface="Arial Black"/>
              </a:rPr>
              <a:t> </a:t>
            </a:r>
            <a:r>
              <a:rPr sz="1100" spc="-65" dirty="0">
                <a:latin typeface="Tahoma"/>
                <a:cs typeface="Tahoma"/>
              </a:rPr>
              <a:t>JWT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significantly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improves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session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security.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3333B2"/>
              </a:buClr>
              <a:buFont typeface="Arial"/>
              <a:buChar char="•"/>
            </a:pPr>
            <a:endParaRPr sz="1100" dirty="0">
              <a:latin typeface="Tahoma"/>
              <a:cs typeface="Tahoma"/>
            </a:endParaRPr>
          </a:p>
          <a:p>
            <a:pPr marL="1873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55" dirty="0">
                <a:latin typeface="Arial Black"/>
                <a:cs typeface="Arial Black"/>
              </a:rPr>
              <a:t>Communication:</a:t>
            </a:r>
            <a:r>
              <a:rPr sz="1100" spc="200" dirty="0">
                <a:latin typeface="Arial Black"/>
                <a:cs typeface="Arial Black"/>
              </a:rPr>
              <a:t> </a:t>
            </a:r>
            <a:r>
              <a:rPr sz="1100" spc="-20" dirty="0">
                <a:latin typeface="Tahoma"/>
                <a:cs typeface="Tahoma"/>
              </a:rPr>
              <a:t>REST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architecture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simplifies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API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integration.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3333B2"/>
              </a:buClr>
              <a:buFont typeface="Arial"/>
              <a:buChar char="•"/>
            </a:pPr>
            <a:endParaRPr sz="1100" dirty="0">
              <a:latin typeface="Tahoma"/>
              <a:cs typeface="Tahoma"/>
            </a:endParaRPr>
          </a:p>
          <a:p>
            <a:pPr marL="1873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60" dirty="0">
                <a:latin typeface="Arial Black"/>
                <a:cs typeface="Arial Black"/>
              </a:rPr>
              <a:t>Data</a:t>
            </a:r>
            <a:r>
              <a:rPr sz="1100" spc="50" dirty="0">
                <a:latin typeface="Arial Black"/>
                <a:cs typeface="Arial Black"/>
              </a:rPr>
              <a:t> </a:t>
            </a:r>
            <a:r>
              <a:rPr sz="1100" spc="-60" dirty="0">
                <a:latin typeface="Arial Black"/>
                <a:cs typeface="Arial Black"/>
              </a:rPr>
              <a:t>Structure:</a:t>
            </a:r>
            <a:r>
              <a:rPr sz="1100" spc="195" dirty="0">
                <a:latin typeface="Arial Black"/>
                <a:cs typeface="Arial Black"/>
              </a:rPr>
              <a:t> </a:t>
            </a:r>
            <a:r>
              <a:rPr sz="1100" dirty="0">
                <a:latin typeface="Tahoma"/>
                <a:cs typeface="Tahoma"/>
              </a:rPr>
              <a:t>Proper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relational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mapping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essential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for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feeds.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3333B2"/>
              </a:buClr>
              <a:buFont typeface="Arial"/>
              <a:buChar char="•"/>
            </a:pPr>
            <a:endParaRPr sz="1100" dirty="0">
              <a:latin typeface="Tahoma"/>
              <a:cs typeface="Tahoma"/>
            </a:endParaRPr>
          </a:p>
          <a:p>
            <a:pPr marL="187325" indent="-136525">
              <a:lnSpc>
                <a:spcPct val="100000"/>
              </a:lnSpc>
              <a:buClr>
                <a:srgbClr val="3333B2"/>
              </a:buClr>
              <a:buFont typeface="Arial"/>
              <a:buChar char="•"/>
              <a:tabLst>
                <a:tab pos="187325" algn="l"/>
              </a:tabLst>
            </a:pPr>
            <a:r>
              <a:rPr sz="1100" spc="-40" dirty="0">
                <a:latin typeface="Arial Black"/>
                <a:cs typeface="Arial Black"/>
              </a:rPr>
              <a:t>Maintainability:</a:t>
            </a:r>
            <a:r>
              <a:rPr sz="1100" spc="245" dirty="0">
                <a:latin typeface="Arial Black"/>
                <a:cs typeface="Arial Black"/>
              </a:rPr>
              <a:t> </a:t>
            </a:r>
            <a:r>
              <a:rPr sz="1100" spc="60" dirty="0">
                <a:latin typeface="Tahoma"/>
                <a:cs typeface="Tahoma"/>
              </a:rPr>
              <a:t>Modular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design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improves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long-term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scalability.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5" name="object 5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r>
              <a:rPr sz="600" spc="40" dirty="0">
                <a:latin typeface="Tahoma"/>
                <a:cs typeface="Tahoma"/>
              </a:rPr>
              <a:t> 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C483-0D5C-BF04-C900-8A86B6A0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3190"/>
            <a:ext cx="2602230" cy="215444"/>
          </a:xfrm>
        </p:spPr>
        <p:txBody>
          <a:bodyPr/>
          <a:lstStyle/>
          <a:p>
            <a:r>
              <a:rPr lang="en-IN" dirty="0"/>
              <a:t>Challenges &amp; Key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EBFCF-8FEE-8E74-4B04-EE094FFA27A4}"/>
              </a:ext>
            </a:extLst>
          </p:cNvPr>
          <p:cNvSpPr txBox="1"/>
          <p:nvPr/>
        </p:nvSpPr>
        <p:spPr>
          <a:xfrm>
            <a:off x="368300" y="708025"/>
            <a:ext cx="220980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@ Challenges Faced</a:t>
            </a:r>
          </a:p>
          <a:p>
            <a:endParaRPr lang="en-IN" sz="11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Integration: Connectiong Angular dynamically with Spring Boot RESR APIs securely.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Data Optimization: Handling complex relational JOINs  for personalized feed generation efficiently.</a:t>
            </a:r>
          </a:p>
          <a:p>
            <a:endParaRPr lang="en-IN" sz="11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30D4C-9DB3-3DC9-F352-8C456E233FD1}"/>
              </a:ext>
            </a:extLst>
          </p:cNvPr>
          <p:cNvSpPr txBox="1"/>
          <p:nvPr/>
        </p:nvSpPr>
        <p:spPr>
          <a:xfrm>
            <a:off x="3187700" y="708024"/>
            <a:ext cx="2133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rgbClr val="00B050"/>
                </a:solidFill>
              </a:rPr>
              <a:t>Key Learning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Gained a comprehensive understanding of the entire Full-Stack development Lifecycle.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Mastered Database relationships modelling for scaling social applications.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Improved overall debugging &amp; problem-solving skills across isolated application layers.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9946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89458" y="1414536"/>
            <a:ext cx="5386882" cy="581121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6985" marR="5080" algn="ctr">
              <a:lnSpc>
                <a:spcPct val="106700"/>
              </a:lnSpc>
              <a:spcBef>
                <a:spcPts val="20"/>
              </a:spcBef>
            </a:pPr>
            <a:r>
              <a:rPr sz="1200" spc="-30" dirty="0"/>
              <a:t>”RevConnect</a:t>
            </a:r>
            <a:r>
              <a:rPr sz="1200" spc="50" dirty="0"/>
              <a:t> </a:t>
            </a:r>
            <a:r>
              <a:rPr sz="1200" spc="-10" dirty="0"/>
              <a:t>successfully</a:t>
            </a:r>
            <a:r>
              <a:rPr sz="1200" spc="55" dirty="0"/>
              <a:t> </a:t>
            </a:r>
            <a:r>
              <a:rPr sz="1200" dirty="0"/>
              <a:t>bridges</a:t>
            </a:r>
            <a:r>
              <a:rPr sz="1200" spc="50" dirty="0"/>
              <a:t> </a:t>
            </a:r>
            <a:r>
              <a:rPr sz="1200" dirty="0"/>
              <a:t>the</a:t>
            </a:r>
            <a:r>
              <a:rPr sz="1200" spc="55" dirty="0"/>
              <a:t> </a:t>
            </a:r>
            <a:r>
              <a:rPr sz="1200" dirty="0"/>
              <a:t>gap</a:t>
            </a:r>
            <a:r>
              <a:rPr sz="1200" spc="50" dirty="0"/>
              <a:t> </a:t>
            </a:r>
            <a:r>
              <a:rPr sz="1200" dirty="0"/>
              <a:t>between</a:t>
            </a:r>
            <a:r>
              <a:rPr sz="1200" spc="55" dirty="0"/>
              <a:t> </a:t>
            </a:r>
            <a:r>
              <a:rPr sz="1200" dirty="0"/>
              <a:t>personal</a:t>
            </a:r>
            <a:r>
              <a:rPr sz="1200" spc="50" dirty="0"/>
              <a:t> </a:t>
            </a:r>
            <a:r>
              <a:rPr sz="1200" spc="-10" dirty="0"/>
              <a:t>social </a:t>
            </a:r>
            <a:r>
              <a:rPr sz="1200" dirty="0"/>
              <a:t>networking</a:t>
            </a:r>
            <a:r>
              <a:rPr sz="1200" spc="180" dirty="0"/>
              <a:t> </a:t>
            </a:r>
            <a:r>
              <a:rPr sz="1200" dirty="0"/>
              <a:t>and</a:t>
            </a:r>
            <a:r>
              <a:rPr sz="1200" spc="185" dirty="0"/>
              <a:t> </a:t>
            </a:r>
            <a:r>
              <a:rPr sz="1200" spc="-10" dirty="0"/>
              <a:t>business</a:t>
            </a:r>
            <a:r>
              <a:rPr sz="1200" spc="180" dirty="0"/>
              <a:t> </a:t>
            </a:r>
            <a:r>
              <a:rPr sz="1200" dirty="0"/>
              <a:t>engagement,</a:t>
            </a:r>
            <a:r>
              <a:rPr sz="1200" spc="185" dirty="0"/>
              <a:t> </a:t>
            </a:r>
            <a:r>
              <a:rPr sz="1200" dirty="0"/>
              <a:t>providing</a:t>
            </a:r>
            <a:r>
              <a:rPr sz="1200" spc="180" dirty="0"/>
              <a:t> </a:t>
            </a:r>
            <a:r>
              <a:rPr sz="1200" dirty="0"/>
              <a:t>a</a:t>
            </a:r>
            <a:r>
              <a:rPr sz="1200" spc="185" dirty="0"/>
              <a:t> </a:t>
            </a:r>
            <a:r>
              <a:rPr sz="1200" dirty="0"/>
              <a:t>unified,</a:t>
            </a:r>
            <a:r>
              <a:rPr sz="1200" spc="180" dirty="0"/>
              <a:t> </a:t>
            </a:r>
            <a:r>
              <a:rPr sz="1200" spc="-10" dirty="0"/>
              <a:t>secure, </a:t>
            </a:r>
            <a:r>
              <a:rPr sz="1200" dirty="0"/>
              <a:t>and</a:t>
            </a:r>
            <a:r>
              <a:rPr sz="1200" spc="50" dirty="0"/>
              <a:t> </a:t>
            </a:r>
            <a:r>
              <a:rPr sz="1200" dirty="0"/>
              <a:t>scalable</a:t>
            </a:r>
            <a:r>
              <a:rPr sz="1200" spc="50" dirty="0"/>
              <a:t> </a:t>
            </a:r>
            <a:r>
              <a:rPr sz="1200" spc="55" dirty="0"/>
              <a:t>digital</a:t>
            </a:r>
            <a:r>
              <a:rPr sz="1200" spc="50" dirty="0"/>
              <a:t> </a:t>
            </a:r>
            <a:r>
              <a:rPr sz="1200" spc="60" dirty="0"/>
              <a:t>platform</a:t>
            </a:r>
            <a:r>
              <a:rPr sz="1200" spc="50" dirty="0"/>
              <a:t> </a:t>
            </a:r>
            <a:r>
              <a:rPr sz="1200" spc="65" dirty="0"/>
              <a:t>for</a:t>
            </a:r>
            <a:r>
              <a:rPr sz="1200" spc="50" dirty="0"/>
              <a:t> </a:t>
            </a:r>
            <a:r>
              <a:rPr sz="1200" dirty="0"/>
              <a:t>professional</a:t>
            </a:r>
            <a:r>
              <a:rPr sz="1200" spc="50" dirty="0"/>
              <a:t> </a:t>
            </a:r>
            <a:r>
              <a:rPr sz="1200" spc="-10" dirty="0"/>
              <a:t>communication.”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5" name="object 5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r>
              <a:rPr sz="600" spc="40" dirty="0">
                <a:latin typeface="Tahoma"/>
                <a:cs typeface="Tahoma"/>
              </a:rPr>
              <a:t> 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9564" y="1144243"/>
            <a:ext cx="1761489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135" dirty="0">
                <a:latin typeface="Arial Black"/>
                <a:cs typeface="Arial Black"/>
              </a:rPr>
              <a:t>Thank</a:t>
            </a:r>
            <a:r>
              <a:rPr sz="2450" spc="-170" dirty="0">
                <a:latin typeface="Arial Black"/>
                <a:cs typeface="Arial Black"/>
              </a:rPr>
              <a:t> </a:t>
            </a:r>
            <a:r>
              <a:rPr sz="2450" spc="-150" dirty="0">
                <a:latin typeface="Arial Black"/>
                <a:cs typeface="Arial Black"/>
              </a:rPr>
              <a:t>You!</a:t>
            </a:r>
            <a:endParaRPr sz="2450" dirty="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107753"/>
            <a:ext cx="5760085" cy="132715"/>
            <a:chOff x="0" y="3107753"/>
            <a:chExt cx="5760085" cy="132715"/>
          </a:xfrm>
        </p:grpSpPr>
        <p:sp>
          <p:nvSpPr>
            <p:cNvPr id="4" name="object 4"/>
            <p:cNvSpPr/>
            <p:nvPr/>
          </p:nvSpPr>
          <p:spPr>
            <a:xfrm>
              <a:off x="0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919973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839946" y="3107753"/>
              <a:ext cx="1920239" cy="132715"/>
            </a:xfrm>
            <a:custGeom>
              <a:avLst/>
              <a:gdLst/>
              <a:ahLst/>
              <a:cxnLst/>
              <a:rect l="l" t="t" r="r" b="b"/>
              <a:pathLst>
                <a:path w="1920239" h="132714">
                  <a:moveTo>
                    <a:pt x="1919973" y="0"/>
                  </a:moveTo>
                  <a:lnTo>
                    <a:pt x="0" y="0"/>
                  </a:lnTo>
                  <a:lnTo>
                    <a:pt x="0" y="132245"/>
                  </a:lnTo>
                  <a:lnTo>
                    <a:pt x="1919973" y="132245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522677" y="3105454"/>
            <a:ext cx="715010" cy="110287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00" spc="10" dirty="0">
                <a:latin typeface="Tahoma"/>
                <a:cs typeface="Tahoma"/>
              </a:rPr>
              <a:t>RevConnect</a:t>
            </a:r>
            <a:r>
              <a:rPr sz="600" spc="40" dirty="0">
                <a:latin typeface="Tahoma"/>
                <a:cs typeface="Tahoma"/>
              </a:rPr>
              <a:t> </a:t>
            </a:r>
            <a:endParaRPr sz="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464</Words>
  <Application>Microsoft Office PowerPoint</Application>
  <PresentationFormat>Custom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Tahoma</vt:lpstr>
      <vt:lpstr>Office Theme</vt:lpstr>
      <vt:lpstr>PowerPoint Presentation</vt:lpstr>
      <vt:lpstr>Table of Contents</vt:lpstr>
      <vt:lpstr>Introduction &amp; Objective</vt:lpstr>
      <vt:lpstr>System Architecture</vt:lpstr>
      <vt:lpstr>Methodology</vt:lpstr>
      <vt:lpstr>Database Design Overview</vt:lpstr>
      <vt:lpstr>Core Modules: Personal Users</vt:lpstr>
      <vt:lpstr>Creator &amp; Business Features</vt:lpstr>
      <vt:lpstr>Findings &amp; Observations</vt:lpstr>
      <vt:lpstr>Challenges &amp; Key Learning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RevConnect Project - Full-Stack Professional Networking Platform</dc:title>
  <dc:creator>By Shrutika Patil</dc:creator>
  <cp:lastModifiedBy>Shrutika Patil</cp:lastModifiedBy>
  <cp:revision>4</cp:revision>
  <dcterms:created xsi:type="dcterms:W3CDTF">2026-02-26T05:20:47Z</dcterms:created>
  <dcterms:modified xsi:type="dcterms:W3CDTF">2026-03-14T06:07:22Z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2026-02-26T00:00:00Z</vt:filetime>
  </property>
  <property fmtid="{D5CDD505-2E9C-101B-9397-08002B2CF9AE}" pid="5" name="PTEX.FullBanner">
    <vt:lpwstr>This is LuaHBTeX, Version 1.22.0 (TeX Live 2025)</vt:lpwstr>
  </property>
  <property fmtid="{D5CDD505-2E9C-101B-9397-08002B2CF9AE}" pid="6" name="Producer">
    <vt:lpwstr>LuaTeX-1.22.0</vt:lpwstr>
  </property>
</Properties>
</file>